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1148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BCSE355L: CLOUD ARCHITECTURE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86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800" b="1">
                <a:solidFill>
                  <a:srgbClr val="F8FAFC"/>
                </a:solidFill>
                <a:latin typeface="Calibri"/>
              </a:defRPr>
            </a:pPr>
            <a:r>
              <a:t>CloudPulse</a:t>
            </a:r>
          </a:p>
          <a:p>
            <a:pPr>
              <a:spcAft>
                <a:spcPts val="1600"/>
              </a:spcAft>
              <a:defRPr sz="2200" b="1">
                <a:solidFill>
                  <a:srgbClr val="0EA5E9"/>
                </a:solidFill>
                <a:latin typeface="Calibri"/>
              </a:defRPr>
            </a:pPr>
            <a:r>
              <a:t>Autonomous Event-Driven Self-Healing Cloud Reliability Simulator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Closed-loop autonomic computing demonstrating real-time fault detection,</a:t>
            </a:r>
            <a:br/>
            <a:r>
              <a:t>asynchronous event routing, automated self-healing remediation, and SRE reliability telemetry on AWS Serverless.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8FAFC"/>
                </a:solidFill>
              </a:defRPr>
            </a:pPr>
            <a:r>
              <a:t>Presenter: CloudPulse Engineering Team   |   Evaluation Milestone: Project Review 2 / Viva Voce   |   AWS Region: ap-south-1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CloudPulse | BCSE355L: Cloud Architecture Design | Slide 1 of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1. MOTIVATION &amp; CHALLENGE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  <a:latin typeface="Calibri"/>
              </a:defRPr>
            </a:pPr>
            <a:r>
              <a:t>The Cloud Operations &amp; Reliability Crisis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Why manual triage and static alert runbooks fail in distributed serverless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346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The Modern Cloud Reality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Distributed &amp; Ephemeral: Modern systems span dozens of microservices, serverless functions, and managed datastores.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Cascading Latency: A single resource bottleneck (e.g. CPU spike or connection saturation) ripples across the dependency graph.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High Incident Volumes: Human operators face alert fatigue with hundreds of notifications daily.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9470" y="1737360"/>
            <a:ext cx="329184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8070" y="1920240"/>
            <a:ext cx="28346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The MTTR Bottleneck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Human-in-the-Loop Latency: Traditional operations require paging on-call engineers, manual log triage, and playbook lookups.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Average Outage Duration: Industry averages show 30-45 minutes Mean Time to Recovery (MTTR) for routine cloud failures.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Unacceptable Downtime Costs: Even minor outages cost thousands of dollars per minute in enterprise production.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1737360"/>
            <a:ext cx="329184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6935" y="1920240"/>
            <a:ext cx="28346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The Autonomous Solution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Autonomic Closed Loop: Automate the MAPE-K cycle (Monitor, Analyze, Plan, Execute, Knowledge) without human paging.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Sub-Second Detection: Continuous CloudWatch high-resolution metrics trigger instantaneous alarm evaluations.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Deterministic Self-Healing: Automated targeted remediation strategies restore nominal metrics within seconds.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CloudPulse | BCSE355L: Cloud Architecture Design | Slide 2 of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2. PROJECT GOALS &amp; INNOVATION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  <a:latin typeface="Calibri"/>
              </a:defRPr>
            </a:pPr>
            <a:r>
              <a:t>Project Objectives &amp; Core Engineering Innovation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Demonstrating enterprise self-healing patterns while strictly adhering to cloud architecture best practices.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8099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72379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Calibri"/>
              </a:defRPr>
            </a:pPr>
            <a:r>
              <a:t>Primary Engineering Objectives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End-to-End Closed Loop: Build an autonomous feedback cycle connecting fault injection, metric detection, event routing, and remediation.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Zero Destructive Hardware Risk: Simulate faults logically via state &amp; metric mutations in DynamoDB without terminating real cloud servers.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Decoupled Microservice Architecture: Decouple monitoring from healing using Amazon EventBridge asynchronous routing rules.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Deterministic SRE Metrics: Provide exact mathematical derivation of MTTR, detection latency, and recovery success rates without fake data.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100% Free Tier Compliance: Eliminate continuous compute costs via serverless pay-per-use design ($0.00 idle compute cost).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737360"/>
            <a:ext cx="518099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6870" y="1920240"/>
            <a:ext cx="472379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Key Architectural Innovations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Dual-Mode Event Ingestion: Supports both autonomous CloudWatch alarm state-machine routing and fast-track synthetic fault injection.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Two-Tier Idempotency Engine: Eliminates duplicate recovery executions caused by at-least-once distributed event broker delivery.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Circuit Breaker Escalation: Automatically limits failed remediation attempts to 3 before escalating to human manual intervention.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Dynamic Base Path Stripping: Mangum ASGI adapter dynamically resolves API Gateway stage prefixes (/dev) preventing route mismatch.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Comprehensive Auditability: Full 14-field incident lifecycle tracked with immutable ISO 8601 timestamps and correlation IDs.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CloudPulse | BCSE355L: Cloud Architecture Design | Slide 3 of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3. SYSTEM ARCHITECTURE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  <a:latin typeface="Calibri"/>
              </a:defRPr>
            </a:pPr>
            <a:r>
              <a:t>High-Level Serverless Architecture &amp; Service Mapping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Fully decoupled, event-driven four-tier architecture designed around the AWS Well-Architected Framework.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6888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011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Calibri"/>
              </a:defRPr>
            </a:pPr>
            <a:r>
              <a:t>Tier 1: Presentation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React 18 + Vite SPA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Hosted on Amazon S3 static website hosting.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Responsive SRE Ops Console.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Live 5-stage lifecycle stepper.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Real-time gauge visualizations &amp; interactive failure injector.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Zero compute server overhead.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737360"/>
            <a:ext cx="246888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920240"/>
            <a:ext cx="2011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  <a:latin typeface="Calibri"/>
              </a:defRPr>
            </a:pPr>
            <a:r>
              <a:t>Tier 2: Ingestion &amp; API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API Gateway (HTTP API v2).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Sub-millisecond route proxying.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AWS Lambda (Python 3.12 ARM64).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FastAPI + Mangum adapter.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Dynamic stage prefix stripping.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OpenAPI 3.0 auto-documentation.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Zero idle compute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46888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2011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Tier 3: Persistence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Amazon DynamoDB (On-Demand).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cloudpulse-resources-dev: Stores virtual resource state &amp; telemetry.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cloudpulse-incidents-dev: Complete 14-field lifecycle audit log.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ResourceIndex GSI for filtered queries.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Atomic conditional writes.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737360"/>
            <a:ext cx="246888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920240"/>
            <a:ext cx="2011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Tier 4: Autonomic Engine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Amazon CloudWatch: 5 high-resolution telemetry metrics + alarms.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Amazon EventBridge: Decoupled asynchronous event broker bus.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Recovery Lambda: Executes targeted self-healing strategies.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Amazon SNS: Automated subscriber email notifications with guards.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CloudPulse | BCSE355L: Cloud Architecture Design | Slide 4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4. INGESTION &amp; MONITORING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  <a:latin typeface="Calibri"/>
              </a:defRPr>
            </a:pPr>
            <a:r>
              <a:t>Telemetry Ingestion &amp; CloudWatch Monitoring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Continuous synthetic heartbeat telemetry coupled with high-resolution metric alarms.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8099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72379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Calibri"/>
              </a:defRPr>
            </a:pPr>
            <a:r>
              <a:t>Virtual Resource Heartbeat Simulator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Scheduled Trigger: Amazon EventBridge Rule invokes SimulatorFunction every 2 minutes (rate(2 minutes)).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Deterministic Telemetry: Evaluates 4 virtual resource archetypes: VM-001 (Compute), API-001 (Gateway), DB-001 (Storage), STORAGE-001 (Object).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Synthetic Jitter: Emits realistic Gaussian metric variations around nominal operating baselines.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Race Condition Guard: Skips resources currently in RECOVERY_INITIATED or RECOVERY_IN_PROGRESS to prevent overwriting active healing operations.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Batch PutMetricData: Bundles metric records into a single CloudWatch API call to strictly optimize Free-Tier quota.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737360"/>
            <a:ext cx="518099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6870" y="1920240"/>
            <a:ext cx="472379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  <a:latin typeface="Calibri"/>
              </a:defRPr>
            </a:pPr>
            <a:r>
              <a:t>CloudWatch Custom Metrics &amp; Alarm Topology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Custom Metric Namespace: 'CloudPulse' isolated telemetry namespace.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5 Monitored Telemetry Dimensions: CPUUtilization (%), MemoryUtilization (%), StorageUtilization (%), NetworkLatency (ms), ServiceHealth score.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Alarm Threshold Rules: Static threshold evaluation over 60s evaluation periods (e.g. CPU &gt; 85%, Latency &gt; 150ms).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Composite Health Metric: Normalized health formula: 100 - (0.4*CPU + 0.3*Mem + 0.3*Latency).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Clean Alarm De-duplication: CloudWatch Alarm State Changes publish state-change events directly to the EventBridge bus.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CloudPulse | BCSE355L: Cloud Architecture Design | Slide 5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5. ASYNCHRONOUS EVENT ROUTING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  <a:latin typeface="Calibri"/>
              </a:defRPr>
            </a:pPr>
            <a:r>
              <a:t>Decoupled Event Routing via Amazon EventBridge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Eliminating tight coupling between monitoring alarms and remediation compute.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8099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72379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Calibri"/>
              </a:defRPr>
            </a:pPr>
            <a:r>
              <a:t>Why EventBridge Over Direct Invocation?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Loose Coupling: The monitoring system does not know or care how recovery is implemented. Healing logic can be replaced without touching alarms.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Multi-Subscriber Fanout: A single alarm event can trigger the Recovery Lambda, write to a compliance audit SQS queue, and page Slack.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Native Content Filtering: EventBridge evaluates JSON event payload patterns at wire-speed without running compute code.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Built-in Dead Letter Queue (DLQ): Unroutable or failed events automatically divert to SQS cloudpulse-recovery-dlq-dev for analysis.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Zero Infrastructure Overhead: Managed serverless bus scaling to thousands of events/sec with sub-second delivery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737360"/>
            <a:ext cx="518099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6870" y="1920240"/>
            <a:ext cx="472379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Architectural Audit Fix: Alarm Filtering Rule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The Bug (Finding A-14): SAM originally matched all 'cloudpulse-' alarms. When composite 'SERVICE_HEALTH' fired, Recovery Lambda crashed trying to parse it as a failure type.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The Architectural Solution: Updated EventBridge pattern in template.yaml to filter out composite alarms: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```yaml</a:t>
            </a:r>
            <a:br/>
            <a:r>
              <a:t>Source: aws.cloudwatch</a:t>
            </a:r>
            <a:br/>
            <a:r>
              <a:t>Detail-Type: CloudWatch Alarm State Change</a:t>
            </a:r>
            <a:br/>
            <a:r>
              <a:t>Detail:</a:t>
            </a:r>
            <a:br/>
            <a:r>
              <a:t>  alarmName:</a:t>
            </a:r>
            <a:br/>
            <a:r>
              <a:t>    - prefix: cloudpulse-</a:t>
            </a:r>
            <a:br/>
            <a:r>
              <a:t>    - anything-but:</a:t>
            </a:r>
            <a:br/>
            <a:r>
              <a:t>        suffix: -SERVICE_HEALTH</a:t>
            </a:r>
            <a:br/>
            <a:r>
              <a:t>```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Result: Autonomous recovery only reacts to specific root-cause alarms (CPU, Latency, Storage), while composite health serves visual monitoring.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CloudPulse | BCSE355L: Cloud Architecture Design | Slide 6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6. AUTONOMIC REMEDIATION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  <a:latin typeface="Calibri"/>
              </a:defRPr>
            </a:pPr>
            <a:r>
              <a:t>Autonomous Self-Healing Engine &amp; Strategies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Deterministic, strategy-based remediation backed by circuit-breaker failure escalation.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8099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72379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Deterministic Strategy Dispatcher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FS-01: HIGH_CPU → SCALE_OUT: Simulates horizontal autoscaling; resets CPU to 25.0% and memory to 30.0%.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FS-02: SERVICE_FAILURE → SERVICE_RESTART: Restarts application runtime; resets latency to 15ms and CPU to 25%.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FS-03: STORAGE_EXHAUSTION → STORAGE_CLEANUP: Flushes temp files &amp; rotates logs; resets storage utilization to 20%.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FS-04: NETWORK_LATENCY → NETWORK_REROUTE: Reroutes virtual traffic through alternative VPC route; resets latency to 15ms.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FS-05: SERVICE_DOWNTIME → FAILOVER: Triggers multi-AZ standby failover; resets all 4 telemetry metrics to nominal baselines.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737360"/>
            <a:ext cx="518099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6870" y="1920240"/>
            <a:ext cx="472379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Resilience &amp; Circuit-Breaker Pattern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Max Recovery Attempts: Strict limit of MAX_RECOVERY_ATTEMPTS = 3 enforced on every incident.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Automated State Tracking: Every attempt creates an immutable RecoveryAction record with UUID, duration, and outcome status.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Automatic Escalation: If recovery fails 3 consecutive times, system transitions resource to MANUAL_INTERVENTION_REQUIRED.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Incident Status: Updates status to ESCALATED with escalated_at timestamp.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High-Priority Alert: Publishes urgent SNS alert email notifying on-call operators that automated healing has exhausted retries.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CloudPulse | BCSE355L: Cloud Architecture Design | Slide 7 of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7. CONCURRENCY &amp; RELIABILITY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  <a:latin typeface="Calibri"/>
              </a:defRPr>
            </a:pPr>
            <a:r>
              <a:t>Two-Tier Idempotency &amp; Concurrency Guarantees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Protecting against at-least-once message delivery and concurrent execution race conditions.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8099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72379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The Distributed Race Condition Threat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At-Least-Once Delivery: Cloud event brokers (EventBridge, SQS, SNS) do not guarantee exactly-once delivery; duplicate events will occur.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Concurrent Triggers: If an operator injects a failure while a CloudWatch alarm triggers, two Lambda execution containers spawn simultaneously.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The Double-Recovery Bug: Without atomic locking, two Lambdas would execute SCALE_OUT twice, corrupting metric states and incident counters.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Distributed Locks Discarded: Redis / ElastiCache adds $30+/month and VPC latency. We opted for native DynamoDB atomic primitives.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737360"/>
            <a:ext cx="518099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6870" y="1920240"/>
            <a:ext cx="472379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The CloudPulse Two-Tier Defense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Tier 1: Strongly Consistent Pre-Read Gate</a:t>
            </a:r>
            <a:br/>
            <a:r>
              <a:t>• Calls get_item() with ConsistentRead=True.</a:t>
            </a:r>
            <a:br/>
            <a:r>
              <a:t>• If state is already RECOVERY_INITIATED, RECOVERY_IN_PROGRESS, or RECOVERED, immediately exits with 200 OK ('Already recovering').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Tier 2: Atomic DynamoDB Conditional Expression</a:t>
            </a:r>
            <a:br/>
            <a:r>
              <a:t>• Executes atomic state mutation with:</a:t>
            </a:r>
            <a:br/>
            <a:r>
              <a:t>  ConditionExpression='current_state = :cs'</a:t>
            </a:r>
            <a:br/>
            <a:r>
              <a:t>  ExpressionAttributeValues={':cs': 'FAILURE_DETECTED'}</a:t>
            </a:r>
            <a:br/>
            <a:r>
              <a:t>• If two Lambdas race past Tier 1, DynamoDB's transaction engine accepts only one write. The loser throws ConditionalCheckFailedException and safely aborts.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CloudPulse | BCSE355L: Cloud Architecture Design | Slide 8 of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8. INCIDENT LIFECYCLE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  <a:latin typeface="Calibri"/>
              </a:defRPr>
            </a:pPr>
            <a:r>
              <a:t>The 5-Stage Closed-Loop Failure &amp; Recovery Lifecycle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State machine progression synchronized across DynamoDB, CloudWatch, and React UI.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998878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1. HEALTHY</a:t>
            </a:r>
          </a:p>
          <a:p>
            <a:pPr>
              <a:spcAft>
                <a:spcPts val="1200"/>
              </a:spcAft>
              <a:defRPr sz="1200" b="1">
                <a:solidFill>
                  <a:srgbClr val="F8FAFC"/>
                </a:solidFill>
                <a:latin typeface="Calibri"/>
              </a:defRPr>
            </a:pPr>
            <a:r>
              <a:t>Nominal State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CPU: 25%</a:t>
            </a:r>
            <a:br/>
            <a:r>
              <a:t>Latency: 15ms</a:t>
            </a:r>
            <a:br/>
            <a:r>
              <a:t>Health: 100%</a:t>
            </a:r>
            <a:br/>
            <a:r>
              <a:t>Incidents: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13278" y="2011680"/>
            <a:ext cx="1998878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2. FAILURE</a:t>
            </a:r>
          </a:p>
          <a:p>
            <a:pPr>
              <a:spcAft>
                <a:spcPts val="1200"/>
              </a:spcAft>
              <a:defRPr sz="1200" b="1">
                <a:solidFill>
                  <a:srgbClr val="F8FAFC"/>
                </a:solidFill>
                <a:latin typeface="Calibri"/>
              </a:defRPr>
            </a:pPr>
            <a:r>
              <a:t>Fault Injected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API Mutates State</a:t>
            </a:r>
            <a:br/>
            <a:r>
              <a:t>CPU spikes to 98%</a:t>
            </a:r>
            <a:br/>
            <a:r>
              <a:t>Health: CRITICAL</a:t>
            </a:r>
            <a:br/>
            <a:r>
              <a:t>Incident OPEN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95036" y="2011680"/>
            <a:ext cx="1998878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3. DETECTED</a:t>
            </a:r>
          </a:p>
          <a:p>
            <a:pPr>
              <a:spcAft>
                <a:spcPts val="1200"/>
              </a:spcAft>
              <a:defRPr sz="1200" b="1">
                <a:solidFill>
                  <a:srgbClr val="F8FAFC"/>
                </a:solidFill>
                <a:latin typeface="Calibri"/>
              </a:defRPr>
            </a:pPr>
            <a:r>
              <a:t>Alarm Evaluated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CloudWatch fires</a:t>
            </a:r>
            <a:br/>
            <a:r>
              <a:t>EventBridge matches</a:t>
            </a:r>
            <a:br/>
            <a:r>
              <a:t>Recovery Lambda</a:t>
            </a:r>
            <a:br/>
            <a:r>
              <a:t>invoked via Bus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76795" y="2011680"/>
            <a:ext cx="1998878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0EA5E9"/>
                </a:solidFill>
                <a:latin typeface="Calibri"/>
              </a:defRPr>
            </a:pPr>
            <a:r>
              <a:t>4. HEALING</a:t>
            </a:r>
          </a:p>
          <a:p>
            <a:pPr>
              <a:spcAft>
                <a:spcPts val="1200"/>
              </a:spcAft>
              <a:defRPr sz="1200" b="1">
                <a:solidFill>
                  <a:srgbClr val="F8FAFC"/>
                </a:solidFill>
                <a:latin typeface="Calibri"/>
              </a:defRPr>
            </a:pPr>
            <a:r>
              <a:t>Strategy Active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Atomic DB Lock</a:t>
            </a:r>
            <a:br/>
            <a:r>
              <a:t>SCALE_OUT strategy</a:t>
            </a:r>
            <a:br/>
            <a:r>
              <a:t>Metric delta reset</a:t>
            </a:r>
            <a:br/>
            <a:r>
              <a:t>SNS alert sent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58553" y="2011680"/>
            <a:ext cx="1998878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5. RECOVERED</a:t>
            </a:r>
          </a:p>
          <a:p>
            <a:pPr>
              <a:spcAft>
                <a:spcPts val="1200"/>
              </a:spcAft>
              <a:defRPr sz="1200" b="1">
                <a:solidFill>
                  <a:srgbClr val="F8FAFC"/>
                </a:solidFill>
                <a:latin typeface="Calibri"/>
              </a:defRPr>
            </a:pPr>
            <a:r>
              <a:t>Closed Loop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Metrics nominal</a:t>
            </a:r>
            <a:br/>
            <a:r>
              <a:t>Incident RESOLVED</a:t>
            </a:r>
            <a:br/>
            <a:r>
              <a:t>Audit trail sealed</a:t>
            </a:r>
            <a:br/>
            <a:r>
              <a:t>SRE MTTR updated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CloudPulse | BCSE355L: Cloud Architecture Design | Slide 9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9. SRE OBSERVABILITY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  <a:latin typeface="Calibri"/>
              </a:defRPr>
            </a:pPr>
            <a:r>
              <a:t>Reliability Metrics &amp; End-to-End Tracing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Zero fake metrics: every SRE key indicator is mathematically derived from stored DynamoDB timestamps.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8099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72379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Calibri"/>
              </a:defRPr>
            </a:pPr>
            <a:r>
              <a:t>Mathematical Reliability Formulations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Mean Time to Recovery (MTTR):</a:t>
            </a:r>
            <a:br/>
            <a:r>
              <a:t>  MTTR = ∑ (resolved_at - detected_at) / Total Resolved Incidents</a:t>
            </a:r>
            <a:br/>
            <a:r>
              <a:t>  Measures true autonomous healing velocity across all resolved incidents.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Recovery Success Rate:</a:t>
            </a:r>
            <a:br/>
            <a:r>
              <a:t>  Success Rate = (Successful Recovery Actions / Total Recovery Attempts) × 100%</a:t>
            </a:r>
            <a:br/>
            <a:r>
              <a:t>  Reflects autonomous remediation efficacy (currently 100% in baseline fleet).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Average Detection Latency (MTTA):</a:t>
            </a:r>
            <a:br/>
            <a:r>
              <a:t>  MTTA = ∑ (detected_at - started_at) / Total Incidents</a:t>
            </a:r>
            <a:br/>
            <a:r>
              <a:t>  Quantifies monitoring reaction speed from anomaly injection to alarm trigger.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Fleet Health Distribution:</a:t>
            </a:r>
            <a:br/>
            <a:r>
              <a:t>  Calculates percentage distribution of fleet across HEALTHY, DEGRADED, and CRITICAL states.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737360"/>
            <a:ext cx="518099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6870" y="1920240"/>
            <a:ext cx="472379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  <a:latin typeface="Calibri"/>
              </a:defRPr>
            </a:pPr>
            <a:r>
              <a:t>Correlation ID &amp; Distributed Tracing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End-to-End Correlation: Every simulated failure assigns a correlation_id (UUID v4) propagated across the entire lifecycle.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Single-Trace Observability: One correlation ID links:</a:t>
            </a:r>
            <a:br/>
            <a:r>
              <a:t>  Simulation (API) → Metric Anomaly (CloudWatch) → Event Routing (EventBridge) → Recovery Execution (Lambda) → Audit Record (DynamoDB) → Notification (SNS).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Structured JSON Logging: All Lambda functions emit structured JSON logs with correlation_id, resource_id, and duration_ms.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Amazon SNS Notification Guards: Uses notified_transitions bitmap to eliminate duplicate alert spam across re-evaluations.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CloudPulse | BCSE355L: Cloud Architecture Design | Slide 10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10. SECURITY &amp; GOVERNANCE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  <a:latin typeface="Calibri"/>
              </a:defRPr>
            </a:pPr>
            <a:r>
              <a:t>IAM Least Privilege, Security &amp; Cost Governance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Enterprise security posture combined with strict Free-Tier cost containment.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8099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72379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IAM Least-Privilege Role Boundaries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Isolated Lambda Roles: Every function has a dedicated IAM role:</a:t>
            </a:r>
            <a:br/>
            <a:r>
              <a:t>  • ApiFunctionRole: Scoped to Get/Put/Scan on DynamoDB and SNS Publish.</a:t>
            </a:r>
            <a:br/>
            <a:r>
              <a:t>  • SimulatorFunctionRole: Scoped to PutMetricData on CloudPulse namespace and resource updates.</a:t>
            </a:r>
            <a:br/>
            <a:r>
              <a:t>  • RecoveryFunctionRole: Scoped to atomic resource updates and incident closure.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Resource ARN Scoping: DynamoDB policies are explicitly restricted to cloudpulse-*-dev ARNs and their GSI indexes (/index/*).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CloudWatch Namespace Conditions: PutMetricData restricted via StringEquals: cloudwatch:namespace = 'CloudPulse'.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Zero Hardcoded Credentials: No AWS access keys or secrets stored anywhere in git repository.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737360"/>
            <a:ext cx="518099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6870" y="1920240"/>
            <a:ext cx="472379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Calibri"/>
              </a:defRPr>
            </a:pPr>
            <a:r>
              <a:t>Cost Governance &amp; Free-Tier Containment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Pure Serverless Scaling to Zero: When idle, compute cost is exactly $0.00/month. No EC2 or container clusters running.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DynamoDB Pay-Per-Request: No provisioned capacity costs; billed only for actual read/write request units consumed.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CloudWatch Log Group Retention: Explicit retention policy of RetentionInDays: 7 set across all Lambda and API logs to prevent storage creep.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Optimized Metric Publishing: Heartbeats emit 5 metrics bundled into single API calls every 2 minutes (&lt; 15,000 metrics/month, well within 10 custom metrics free-tier).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Total Projected Operating Cost: Less than $1.50/month under continuous demonstration workloads.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CloudPulse | BCSE355L: Cloud Architecture Design | Slide 11 of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11. DEMONSTRATION WALKTHROUGH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  <a:latin typeface="Calibri"/>
              </a:defRPr>
            </a:pPr>
            <a:r>
              <a:t>Live Demonstration Script &amp; Expected Outcomes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Step-by-step verification checklist for the evaluator presentation.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8FAFC"/>
                </a:solidFill>
                <a:latin typeface="Calibri"/>
              </a:defRPr>
            </a:pPr>
            <a:r>
              <a:t>Step 1: Baseline Fleet:  Show 4 virtual resources healthy with nominal telemetry (CPU: 25%, Latency: 15ms, Incidents: 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9152"/>
            <a:ext cx="10728655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8FAFC"/>
                </a:solidFill>
                <a:latin typeface="Calibri"/>
              </a:defRPr>
            </a:pPr>
            <a:r>
              <a:t>Step 2: Inject Failure:  Select VM-001 and trigger FS-01: High CPU Utilization. Receive HTTP 201 Created with incident payload.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80944"/>
            <a:ext cx="10728655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8FAFC"/>
                </a:solidFill>
                <a:latin typeface="Calibri"/>
              </a:defRPr>
            </a:pPr>
            <a:r>
              <a:t>Step 3: State Mutation:  Observe VM-001 turn FAILURE_DETECTED, CPU spike to 92%, and health score drop to CRITICAL.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02736"/>
            <a:ext cx="10728655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8FAFC"/>
                </a:solidFill>
                <a:latin typeface="Calibri"/>
              </a:defRPr>
            </a:pPr>
            <a:r>
              <a:t>Step 4: Event Routing:  EventBridge evaluates pattern filter, matches alarm, and triggers Recovery Lambda asynchronously.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24528"/>
            <a:ext cx="10728655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8FAFC"/>
                </a:solidFill>
                <a:latin typeface="Calibri"/>
              </a:defRPr>
            </a:pPr>
            <a:r>
              <a:t>Step 5: Strategy Execution:  Recovery Lambda acquires atomic conditional lock and dispatches SCALE_OUT recovery strategy.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728655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8FAFC"/>
                </a:solidFill>
                <a:latin typeface="Calibri"/>
              </a:defRPr>
            </a:pPr>
            <a:r>
              <a:t>Step 6: Metric Reset:  Virtual CPU reset to nominal 25%, resource returned to HEALTHY, and incident closed as RESOLVED.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68112"/>
            <a:ext cx="10728655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8FAFC"/>
                </a:solidFill>
                <a:latin typeface="Calibri"/>
              </a:defRPr>
            </a:pPr>
            <a:r>
              <a:t>Step 7: Audit Verification:  Inspect 14-field DynamoDB incident record, check SNS email in inbox, and verify SRE MTTR calculation.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CloudPulse | BCSE355L: Cloud Architecture Design | Slide 12 of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12. VERIFICATION &amp; QUALITY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  <a:latin typeface="Calibri"/>
              </a:defRPr>
            </a:pPr>
            <a:r>
              <a:t>Automated Testing &amp; Technical Verification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Multi-layered automated test suite ensuring absolute reliability and zero architectural regression.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228600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Calibri"/>
              </a:defRPr>
            </a:pPr>
            <a:r>
              <a:t>277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Backend Unit Tests (Passed)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73736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74519"/>
            <a:ext cx="228600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Calibri"/>
              </a:defRPr>
            </a:pPr>
            <a:r>
              <a:t>95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E2E Integration Tests (Passed)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1874519"/>
            <a:ext cx="228600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Calibri"/>
              </a:defRPr>
            </a:pPr>
            <a:r>
              <a:t>49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Frontend Vitest Tests (Passed)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737360"/>
            <a:ext cx="2468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874519"/>
            <a:ext cx="2286000" cy="1005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0EA5E9"/>
                </a:solidFill>
                <a:latin typeface="Calibri"/>
              </a:defRPr>
            </a:pPr>
            <a:r>
              <a:t>421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Total Automated Tests (100% Pass)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5180990" cy="2743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74720"/>
            <a:ext cx="472379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Calibri"/>
              </a:defRPr>
            </a:pPr>
            <a:r>
              <a:t>Test Coverage Categories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Data Models &amp; Validation: Strict Pydantic models for Incident, Resource, and RecoveryAction with UUID v4 validation.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Idempotency &amp; Race Conditions: Verifies strongly consistent pre-read gates and DynamoDB ConditionalCheckFailedException handling.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Failure Strategy Execution: Unit tests for all 5 recovery strategies verifying deterministic metric deltas and reset values.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API Gateway Stage Stripping: Mangum adapter tests verifying stage prefix handling across /dev and $default stages.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270" y="3291840"/>
            <a:ext cx="5180990" cy="2743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6870" y="3474720"/>
            <a:ext cx="472379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  <a:latin typeface="Calibri"/>
              </a:defRPr>
            </a:pPr>
            <a:r>
              <a:t>Execution Velocity &amp; Tooling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Backend Execution Speed: 277 backend unit tests execute in 6.93s via pytest.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Frontend Execution Speed: 49 React component tests execute in 8.36s via Vitest &amp; React Testing Library.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Closed-Loop E2E Verification: Full synthetic lifecycle validated without real AWS network dependency in local test suites.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Zero Failing Tests: Verified release-candidate ready for academic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CloudPulse | BCSE355L: Cloud Architecture Design | Slide 13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13. CONCLUSION &amp; ROADMAP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  <a:latin typeface="Calibri"/>
              </a:defRPr>
            </a:pPr>
            <a:r>
              <a:t>Summary, Academic Impact &amp; Future Roadmap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Why CloudPulse represents genuine cloud architecture engineering rather than a basic web app.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8099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72379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Academic &amp; Architectural Contributions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Closed-Loop Autonomics: Demonstrates practical implementation of IBM's MAPE-K autonomic computing architecture on modern cloud primitives.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Event Decoupling Mastery: Proves how asynchronous event routers (EventBridge) cleanly separate observation from action.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Formal Architecture Records: Documented in 6 formal Architecture Decision Records (ADRs) and comprehensive security/cost audits.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Enterprise SRE Relevance: Delivers genuine operational value by modeling automated self-healing, MTTR reduction, and audit compliance.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Production-Grade Clean Code: Zero technical debt, full type hinting, and strict schema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270" y="1737360"/>
            <a:ext cx="518099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6870" y="1920240"/>
            <a:ext cx="472379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EA5E9"/>
                </a:solidFill>
                <a:latin typeface="Calibri"/>
              </a:defRPr>
            </a:pPr>
            <a:r>
              <a:t>Enterprise Production Roadmap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AWS Step Functions Workflows: Replace single-Lambda execution with state machine sagas for complex multi-tier rollbacks.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Multi-Region Active-Active: Replicate DynamoDB Global Tables and route traffic via Route 53 Application Recovery Controller (ARC).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Amazon Bedrock GenAI Diagnosis: Integrate LLM agents to analyze incident logs and recommend novel remediation runbooks for unknown faults.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Chaos Engineering Integration: Extend simulator into an autonomous chaos engine akin to Netflix Chaos Monkey.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Calibri"/>
              </a:defRPr>
            </a:pPr>
            <a:r>
              <a:t>•  Slack &amp; PagerDuty Integration: Webhook event fanout directly from EventBridge bus to engineering chatops.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CloudPulse | BCSE355L: Cloud Architecture Design | Slide 14 of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